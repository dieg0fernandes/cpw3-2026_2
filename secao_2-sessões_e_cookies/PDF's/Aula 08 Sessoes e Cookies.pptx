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9144000" cy="5143500"/>
  <p:embeddedFontLs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pSp1fdYPzNibtWNGrBH8x/hfW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4EC4A8-A0EC-4A58-90EF-7C20C752C893}">
  <a:tblStyle styleId="{DF4EC4A8-A0EC-4A58-90EF-7C20C752C89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21" Type="http://schemas.openxmlformats.org/officeDocument/2006/relationships/font" Target="fonts/Poppi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cebeb76ea_0_6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ccebeb76ea_0_6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67ae05edc_0_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967ae05edc_0_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67ae05edc_0_3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67ae05edc_0_3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67ae05edc_0_5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967ae05edc_0_5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67ae05edc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967ae05edc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7ae05edc_0_4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67ae05edc_0_4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67c318d7c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67c318d7c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807670e4_0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a807670e4_0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807670e4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a807670e4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807670e4_0_2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a807670e4_0_2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93445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1696973" y="492379"/>
            <a:ext cx="4892675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3597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1696973" y="1141628"/>
            <a:ext cx="6970014" cy="342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9550" y="0"/>
            <a:ext cx="893445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 txBox="1"/>
          <p:nvPr>
            <p:ph type="title"/>
          </p:nvPr>
        </p:nvSpPr>
        <p:spPr>
          <a:xfrm>
            <a:off x="1696973" y="492379"/>
            <a:ext cx="4892675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3597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3597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1696973" y="492379"/>
            <a:ext cx="4892675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3597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0"/>
          <p:cNvSpPr txBox="1"/>
          <p:nvPr>
            <p:ph type="title"/>
          </p:nvPr>
        </p:nvSpPr>
        <p:spPr>
          <a:xfrm>
            <a:off x="1696973" y="492379"/>
            <a:ext cx="4892675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3597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1696973" y="1141628"/>
            <a:ext cx="6970014" cy="342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/>
        </p:nvSpPr>
        <p:spPr>
          <a:xfrm>
            <a:off x="2232804" y="3503375"/>
            <a:ext cx="58845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5972F"/>
                </a:solidFill>
                <a:latin typeface="Calibri"/>
                <a:ea typeface="Calibri"/>
                <a:cs typeface="Calibri"/>
                <a:sym typeface="Calibri"/>
              </a:rPr>
              <a:t>Construção de Páginas Web III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3597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2232798" y="4116990"/>
            <a:ext cx="2884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Milena Alegre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g3ccebeb76ea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927" y="3110819"/>
            <a:ext cx="3199002" cy="177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ccebeb76ea_0_65"/>
          <p:cNvSpPr txBox="1"/>
          <p:nvPr>
            <p:ph type="title"/>
          </p:nvPr>
        </p:nvSpPr>
        <p:spPr>
          <a:xfrm>
            <a:off x="169697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Sessoes e Cookies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g3ccebeb76ea_0_65"/>
          <p:cNvSpPr txBox="1"/>
          <p:nvPr>
            <p:ph idx="1" type="body"/>
          </p:nvPr>
        </p:nvSpPr>
        <p:spPr>
          <a:xfrm>
            <a:off x="980875" y="966250"/>
            <a:ext cx="7560300" cy="28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O protocolo HTTP é nativamente </a:t>
            </a:r>
            <a:r>
              <a:rPr b="0" i="1" lang="en-US" sz="1200">
                <a:latin typeface="Poppins"/>
                <a:ea typeface="Poppins"/>
                <a:cs typeface="Poppins"/>
                <a:sym typeface="Poppins"/>
              </a:rPr>
              <a:t>stateless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(sem memória): para o servidor, cada requisição que você faz é como se viesse de um desconhecido completo. Cookies e Sessões são as ferramentas essenciais que criam a ilusão de continuidade e estado na web.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Analogia Prática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Cookie: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Funciona como um crachá que fica no seu bolso. Você carrega a informação e a mostra ao servidor a cada requisição.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Sessão: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Funciona como uma ficha de guarda-volumes. Você carrega apenas o número da ficha (</a:t>
            </a:r>
            <a:r>
              <a:rPr b="0" i="1" lang="en-US" sz="1200">
                <a:latin typeface="Poppins"/>
                <a:ea typeface="Poppins"/>
                <a:cs typeface="Poppins"/>
                <a:sym typeface="Poppins"/>
              </a:rPr>
              <a:t>Session ID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), enquanto os seus dados reais ficam guardados com segurança no servidor.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g3967ae05edc_0_14"/>
          <p:cNvGraphicFramePr/>
          <p:nvPr/>
        </p:nvGraphicFramePr>
        <p:xfrm>
          <a:off x="864900" y="120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{DF4EC4A8-A0EC-4A58-90EF-7C20C752C893}</a:tableStyleId>
              </a:tblPr>
              <a:tblGrid>
                <a:gridCol w="1197575"/>
                <a:gridCol w="3126525"/>
                <a:gridCol w="3208825"/>
              </a:tblGrid>
              <a:tr h="53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Característica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Cookie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Sessão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Localização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Navegador do cliente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Servidor (Memória, Redis, Banco de Dados)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Capacidade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Limita-se a ~4 KB por domínio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Limitada apenas pelos recursos do servidor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Segurança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Baixa (exposto e manipulável no cliente)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Alta (dados sensíveis não trafegam na rede)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Casos de Uso</a:t>
                      </a:r>
                      <a:endParaRPr b="1"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Temas (claro/escuro), rastreamento, idiomas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Carrinho de compras, autenticação/login ativo</a:t>
                      </a:r>
                      <a:endParaRPr sz="9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" name="Google Shape;60;g3967ae05edc_0_14"/>
          <p:cNvSpPr txBox="1"/>
          <p:nvPr>
            <p:ph type="title"/>
          </p:nvPr>
        </p:nvSpPr>
        <p:spPr>
          <a:xfrm>
            <a:off x="150102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Sessoes e Cookies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967ae05edc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0" y="3271150"/>
            <a:ext cx="3054525" cy="152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967ae05edc_0_32"/>
          <p:cNvSpPr txBox="1"/>
          <p:nvPr/>
        </p:nvSpPr>
        <p:spPr>
          <a:xfrm>
            <a:off x="845575" y="898725"/>
            <a:ext cx="78258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Trabalham Juntos na Prática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Autenticação: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usuário digita usuário e senha e envia para o servidor.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Criação do Estado: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servidor valida os dados, cria uma </a:t>
            </a: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Sessão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interna para aquele usuário e gera um código único chamado </a:t>
            </a: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Session ID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Entrega da Chave: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servidor responde ao navegador enviando o </a:t>
            </a: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Session ID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gravado em um </a:t>
            </a: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Cookie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através do cabeçalho </a:t>
            </a: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Set-Cookie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Navegação Contínua: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Nas requisições seguintes, o navegador anexa esse Cookie automaticamente. O servidor lê o </a:t>
            </a: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Session ID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busca a Sessão correspondente na memória e reconhece o usuário logado.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g3967ae05edc_0_32"/>
          <p:cNvSpPr txBox="1"/>
          <p:nvPr>
            <p:ph type="title"/>
          </p:nvPr>
        </p:nvSpPr>
        <p:spPr>
          <a:xfrm>
            <a:off x="150102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Sessoes e Cookies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68" name="Google Shape;68;g3967ae05edc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974" y="3295624"/>
            <a:ext cx="4546600" cy="14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67ae05edc_0_54"/>
          <p:cNvSpPr txBox="1"/>
          <p:nvPr>
            <p:ph idx="1" type="body"/>
          </p:nvPr>
        </p:nvSpPr>
        <p:spPr>
          <a:xfrm>
            <a:off x="1210400" y="1002000"/>
            <a:ext cx="7338300" cy="3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Flags de Segurança Indispensáveis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Para mitigar sequestro de sessão e vazamento de dados, configure os cookies com estas flags: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HttpOnly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: Impede que o Cookie seja lido via scripts JavaScript (</a:t>
            </a:r>
            <a:r>
              <a:rPr b="0"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document.cookie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), neutralizando ataques XSS.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Secure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: Força o envio do Cookie apenas por conexões criptografadas (HTTPS).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SameSite=Lax/Strict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: Restringe o envio do Cookie em requisições vindas de outros sites, prevenindo ataques CSRF.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g3967ae05edc_0_54"/>
          <p:cNvSpPr txBox="1"/>
          <p:nvPr>
            <p:ph type="title"/>
          </p:nvPr>
        </p:nvSpPr>
        <p:spPr>
          <a:xfrm>
            <a:off x="150102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Sessoes e Cookies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967ae05ed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948" y="2889425"/>
            <a:ext cx="1941826" cy="18131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967ae05edc_0_3"/>
          <p:cNvSpPr txBox="1"/>
          <p:nvPr>
            <p:ph type="title"/>
          </p:nvPr>
        </p:nvSpPr>
        <p:spPr>
          <a:xfrm>
            <a:off x="1431950" y="249325"/>
            <a:ext cx="540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967ae05edc_0_3"/>
          <p:cNvSpPr txBox="1"/>
          <p:nvPr/>
        </p:nvSpPr>
        <p:spPr>
          <a:xfrm>
            <a:off x="398725" y="923900"/>
            <a:ext cx="81588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nome vem do termo da computação </a:t>
            </a:r>
            <a:r>
              <a:rPr b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"magic cookie"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(biscoito mágico), mas a sua intuição sobre "deixar rastros" está perfeita e é a melhor metáfora para entender o conceito.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Origem do Nome (O "Biscoito da Sorte")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1994, o programador Lou Montulli criou o recurso para o navegador Netscape. Ele se baseou no termo de programação Unix </a:t>
            </a: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magic cookie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que era um pacote curto de dados enviado entre programas que não mudava seu conteúdo, parecido com um biscoito da sorte chinês, que guarda uma mensagem intacta dentro dele.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Metáfora das Migalhas (João e Maria)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 conexão com "rastros" vem da metáfora do conto de fadas </a:t>
            </a: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João e Maria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onde os irmãos jogavam migalhas de pão no chão para marcar o caminho de volta.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 web, o cookie funciona como essa migalha digital: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Identificação: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site deixa uma "migalha" de dados no seu navegador na primeira visita.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Reconhecimento: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Quando você retorna, o site lê a migalha que ficou armazenada e sabe quem você é, o que deixou no carrinho ou o tema que escolheu.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Rastreamento de Passos: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Os chamados </a:t>
            </a: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cookies de terceiros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(usados por redes de anúncios) usam essas migalhas para acompanhar por quais outros sites você passou, montando um perfil de navegação.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967ae05edc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150" y="3040300"/>
            <a:ext cx="3313299" cy="18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967ae05edc_0_41"/>
          <p:cNvSpPr txBox="1"/>
          <p:nvPr/>
        </p:nvSpPr>
        <p:spPr>
          <a:xfrm>
            <a:off x="921250" y="1155975"/>
            <a:ext cx="74730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Alternativas ao Cookie no Navegador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 o HTML5, surgiram novas formas de guardar informações no cliente sem precisar trafegar dados no cabeçalho HTTP em toda requisição: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LocalStorage: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Armazena até ~5 MB de dados sem data de expiração. Permanece gravado mesmo se o navegador for fechado (ideal para salvar rascunhos de formulários ou configurações de interface).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SessionStorage: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Funciona como o LocalStorage, mas os dados são totalmente apagados no momento em que a aba do navegador é fechada.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IndexedDB:</a:t>
            </a: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Um banco de dados NoSQL transacional completo rodando dentro do navegador, ideal para aplicações web complexas que funcionam offline.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g3967ae05edc_0_41"/>
          <p:cNvSpPr txBox="1"/>
          <p:nvPr>
            <p:ph type="title"/>
          </p:nvPr>
        </p:nvSpPr>
        <p:spPr>
          <a:xfrm>
            <a:off x="150102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Sessoes e Cookies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7c318d7c_0_0"/>
          <p:cNvSpPr txBox="1"/>
          <p:nvPr>
            <p:ph idx="1" type="body"/>
          </p:nvPr>
        </p:nvSpPr>
        <p:spPr>
          <a:xfrm>
            <a:off x="1204025" y="1227400"/>
            <a:ext cx="7054200" cy="25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A Era dos Tokens: JWT (JSON Web Tokens)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 Em arquiteturas modernas de microsserviços e aplicativos móveis, a sessão tradicional (guardada no servidor) muitas vezes gera gargalos de escala.</a:t>
            </a:r>
            <a:endParaRPr b="0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Autenticação Stateless: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 O servidor valida o login e gera um token assinado digitalmente. Em vez de guardar a sessão em um banco de dados, o próprio token carrega as permissões do usuário.</a:t>
            </a:r>
            <a:endParaRPr b="0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Como trafega: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 O navegador ou app armazena o token e o envia no cabeçalho de autorização (</a:t>
            </a:r>
            <a:r>
              <a:rPr b="0" lang="en-US" sz="11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Authorization: Bearer &lt;token&gt;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) a cada requisição.</a:t>
            </a:r>
            <a:endParaRPr b="0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g3967c318d7c_0_0"/>
          <p:cNvSpPr txBox="1"/>
          <p:nvPr>
            <p:ph type="title"/>
          </p:nvPr>
        </p:nvSpPr>
        <p:spPr>
          <a:xfrm>
            <a:off x="150102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Sessoes e Cookies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807670e4_0_15"/>
          <p:cNvSpPr txBox="1"/>
          <p:nvPr>
            <p:ph type="title"/>
          </p:nvPr>
        </p:nvSpPr>
        <p:spPr>
          <a:xfrm>
            <a:off x="169697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Atualmente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fa807670e4_0_15"/>
          <p:cNvSpPr txBox="1"/>
          <p:nvPr>
            <p:ph idx="1" type="body"/>
          </p:nvPr>
        </p:nvSpPr>
        <p:spPr>
          <a:xfrm>
            <a:off x="692650" y="1155975"/>
            <a:ext cx="77343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 Guerra da Privacidade e os Banners de Cookies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A proliferação do rastreamento abusivo gerou mudanças legais e técnicas marcantes: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LGPD e GDPR: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Leis de proteção de dados que exigem consentimento explícito do usuário, gerando os pop-ups de "Aceitar Cookies" presentes na maioria dos sites.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Fim dos Third-Party Cookies: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Navegadores modernos passaram a bloquear por padrão os cookies de terceiros (usados por redes de anúncios para rastrear a navegação entre sites diferentes), forçando o mercado a adotar APIs de privacidade e dados primários (</a:t>
            </a:r>
            <a:r>
              <a:rPr b="0" i="1" lang="en-US" sz="1200">
                <a:latin typeface="Poppins"/>
                <a:ea typeface="Poppins"/>
                <a:cs typeface="Poppins"/>
                <a:sym typeface="Poppins"/>
              </a:rPr>
              <a:t>first-party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).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g3fa807670e4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402" y="2878150"/>
            <a:ext cx="3092799" cy="197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807670e4_0_21"/>
          <p:cNvSpPr txBox="1"/>
          <p:nvPr>
            <p:ph idx="1" type="body"/>
          </p:nvPr>
        </p:nvSpPr>
        <p:spPr>
          <a:xfrm>
            <a:off x="839600" y="977025"/>
            <a:ext cx="73833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A teoria por trás do gerenciamento de estado na web gira em torno de resolver a contradição entre a arquitetura sem estado (</a:t>
            </a:r>
            <a:r>
              <a:rPr b="0" i="1" lang="en-US" sz="1100">
                <a:latin typeface="Poppins"/>
                <a:ea typeface="Poppins"/>
                <a:cs typeface="Poppins"/>
                <a:sym typeface="Poppins"/>
              </a:rPr>
              <a:t>stateless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) do protocolo HTTP e a necessidade de aplicações manterem contexto contínuo.</a:t>
            </a:r>
            <a:endParaRPr b="0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Modelos Arquiteturais de Estado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Stateful (Servidor Centralizado):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 A aplicação armazena a tabela de estado no servidor (RAM, Redis, Banco de Dados) e o cliente guarda apenas o ponteiro (</a:t>
            </a:r>
            <a:r>
              <a:rPr b="0" lang="en-US" sz="11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Session ID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).</a:t>
            </a:r>
            <a:endParaRPr b="0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Vantagem: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Invalidação instantânea do acesso e controle absoluto do servidor.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Desvantagem: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Exige sincronização centralizada ao dimensionar a aplicação em múltiplos servidores (necessita de </a:t>
            </a: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sticky sessions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ou cache compartilhado).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Poppins"/>
                <a:ea typeface="Poppins"/>
                <a:cs typeface="Poppins"/>
                <a:sym typeface="Poppins"/>
              </a:rPr>
              <a:t>Stateless (Cliente Criptografado):</a:t>
            </a:r>
            <a:r>
              <a:rPr b="0" lang="en-US" sz="1100">
                <a:latin typeface="Poppins"/>
                <a:ea typeface="Poppins"/>
                <a:cs typeface="Poppins"/>
                <a:sym typeface="Poppins"/>
              </a:rPr>
              <a:t> O estado inteiro é serializado, assinado criptograficamente e mantido pelo próprio cliente.</a:t>
            </a:r>
            <a:endParaRPr b="0"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Vantagem: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Escala horizontalmente de forma trivial, pois qualquer servidor pode validar o token sem consultar um banco central.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○"/>
            </a:pP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Desvantagem: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Impossibilidade de revogar uma sessão individualmente antes do seu tempo de expiração sem implementar uma lista negra (</a:t>
            </a:r>
            <a:r>
              <a:rPr i="1"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revocation list</a:t>
            </a:r>
            <a:r>
              <a:rPr lang="en-US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no servidor.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g3fa807670e4_0_21"/>
          <p:cNvSpPr txBox="1"/>
          <p:nvPr>
            <p:ph type="title"/>
          </p:nvPr>
        </p:nvSpPr>
        <p:spPr>
          <a:xfrm>
            <a:off x="1441173" y="283204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807670e4_0_27"/>
          <p:cNvSpPr txBox="1"/>
          <p:nvPr>
            <p:ph type="title"/>
          </p:nvPr>
        </p:nvSpPr>
        <p:spPr>
          <a:xfrm>
            <a:off x="1696973" y="294079"/>
            <a:ext cx="4892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Ataques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fa807670e4_0_27"/>
          <p:cNvSpPr txBox="1"/>
          <p:nvPr>
            <p:ph idx="1" type="body"/>
          </p:nvPr>
        </p:nvSpPr>
        <p:spPr>
          <a:xfrm>
            <a:off x="1209473" y="1080428"/>
            <a:ext cx="6969900" cy="28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Ataques Teóricos à Gestão de Sessão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Fixação de Sessão (</a:t>
            </a:r>
            <a:r>
              <a:rPr i="1" lang="en-US" sz="1200">
                <a:latin typeface="Poppins"/>
                <a:ea typeface="Poppins"/>
                <a:cs typeface="Poppins"/>
                <a:sym typeface="Poppins"/>
              </a:rPr>
              <a:t>Session Fixation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O atacante induz a vítima a autenticar-se utilizando um </a:t>
            </a:r>
            <a:r>
              <a:rPr b="0" lang="en-US" sz="1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Session ID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criado previamente pelo próprio invasor. A mitigação teórica exige destruir a sessão anônima e emitir um identificador totalmente novo no exato instante da autenticação.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Sequestro de Sessão (</a:t>
            </a:r>
            <a:r>
              <a:rPr i="1" lang="en-US" sz="1200">
                <a:latin typeface="Poppins"/>
                <a:ea typeface="Poppins"/>
                <a:cs typeface="Poppins"/>
                <a:sym typeface="Poppins"/>
              </a:rPr>
              <a:t>Session Hijacking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A interceptação do identificador ativo via escuta de rede (</a:t>
            </a:r>
            <a:r>
              <a:rPr b="0" i="1" lang="en-US" sz="1200">
                <a:latin typeface="Poppins"/>
                <a:ea typeface="Poppins"/>
                <a:cs typeface="Poppins"/>
                <a:sym typeface="Poppins"/>
              </a:rPr>
              <a:t>Man-in-the-Middle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) ou injeção de código nocivo no cliente (</a:t>
            </a:r>
            <a:r>
              <a:rPr b="0" i="1" lang="en-US" sz="1200">
                <a:latin typeface="Poppins"/>
                <a:ea typeface="Poppins"/>
                <a:cs typeface="Poppins"/>
                <a:sym typeface="Poppins"/>
              </a:rPr>
              <a:t>XSS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).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Falsificação de Requisição entre Sites (</a:t>
            </a:r>
            <a:r>
              <a:rPr i="1" lang="en-US" sz="1200">
                <a:latin typeface="Poppins"/>
                <a:ea typeface="Poppins"/>
                <a:cs typeface="Poppins"/>
                <a:sym typeface="Poppins"/>
              </a:rPr>
              <a:t>CSRF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):</a:t>
            </a:r>
            <a:r>
              <a:rPr b="0" lang="en-US" sz="1200">
                <a:latin typeface="Poppins"/>
                <a:ea typeface="Poppins"/>
                <a:cs typeface="Poppins"/>
                <a:sym typeface="Poppins"/>
              </a:rPr>
              <a:t> Explora o comportamento padrão dos navegadores de anexar cookies automaticamente a qualquer requisição enviada ao domínio de origem, forçando ações não autorizadas em nome de um usuário autenticado.</a:t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761187" y="1929129"/>
            <a:ext cx="5452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3600"/>
              <a:t>milena.alegre@ifms.edu.br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2025-08-31T20:28:53Z</dcterms:created>
  <dc:creator>leandro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2025-08-31T00:00:00Z</vt:filetime>
  </property>
  <property fmtid="{D5CDD505-2E9C-101B-9397-08002B2CF9AE}" pid="5" name="Producer">
    <vt:lpwstr>Microsoft® PowerPoint® para Microsoft 365</vt:lpwstr>
  </property>
</Properties>
</file>